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1D"/>
                </a:solidFill>
                <a:latin typeface="Arial"/>
              </a:rPr>
              <a:t>Tests per app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rgbClr val="1F6F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1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accounts</c:v>
                  </c:pt>
                  <c:pt idx="1">
                    <c:v>store</c:v>
                  </c:pt>
                  <c:pt idx="2">
                    <c:v>cart</c:v>
                  </c:pt>
                  <c:pt idx="3">
                    <c:v>orders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9</c:v>
                </c:pt>
                <c:pt idx="2">
                  <c:v>4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1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56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56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Result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6F54"/>
              </a:solidFill>
              <a:effectLst/>
            </c:spPr>
          </c:dPt>
          <c:dPt>
            <c:idx val="1"/>
            <c:bubble3D val="0"/>
            <c:spPr>
              <a:solidFill>
                <a:srgbClr val="B3261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Passed</c:v>
                </c:pt>
                <c:pt idx="1">
                  <c:v>Finding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16</c:v>
                </c:pt>
                <c:pt idx="1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56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5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503C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F6F54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4389120"/>
            <a:ext cx="3840480" cy="3840480"/>
          </a:xfrm>
          <a:prstGeom prst="ellipse">
            <a:avLst/>
          </a:prstGeom>
          <a:solidFill>
            <a:srgbClr val="1F6F54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SECURESHOP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a Secure E-Commerce Platform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2011680" cy="0"/>
          </a:xfrm>
          <a:prstGeom prst="line">
            <a:avLst/>
          </a:prstGeom>
          <a:noFill/>
          <a:ln w="38100">
            <a:solidFill>
              <a:srgbClr val="C77F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2062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Django platform built with OWASP Top 10 mitigations, Stripe payments,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test suite, and a documented vulnerability assessment.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•  Django  •  Stripe  •  OWASP Top 10 (2021)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6F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marketplace that defends itself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1F1D"/>
                </a:solidFill>
              </a:rPr>
              <a:t>The brief called for an online marketplace with robust security measures against hacking attempts, keeping user data secure through encryption, XSS protection, and SQL injection protection.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2F5F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29184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503C"/>
                </a:solidFill>
              </a:rPr>
              <a:t>Build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1F1D"/>
                </a:solidFill>
              </a:rPr>
              <a:t>A secure online store from scratch, end to end.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3063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2F5F3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329184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503C"/>
                </a:solidFill>
              </a:rPr>
              <a:t>Transact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0" y="384048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1F1D"/>
                </a:solidFill>
              </a:rPr>
              <a:t>Payment processing handled by Stripe — card data never touches this server.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38160" y="3063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2F5F3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329184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503C"/>
                </a:solidFill>
              </a:rPr>
              <a:t>Defend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66760" y="384048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1F1D"/>
                </a:solidFill>
              </a:rPr>
              <a:t>Mitigate OWASP Top 10 risks: injection, XSS, broken access control, and more.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1188720"/>
            <a:ext cx="5303520" cy="1691640"/>
          </a:xfrm>
          <a:prstGeom prst="roundRect">
            <a:avLst>
              <a:gd name="adj" fmla="val 4324"/>
            </a:avLst>
          </a:prstGeom>
          <a:solidFill>
            <a:srgbClr val="1F6F54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3258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Technologies Required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37960" y="1691640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OWASP Top 10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Django (Python web framework)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Stripe payment processing API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6F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6F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Django apps, one clear data 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2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63624"/>
            <a:ext cx="777240" cy="274320"/>
          </a:xfrm>
          <a:prstGeom prst="roundRect">
            <a:avLst>
              <a:gd name="adj" fmla="val 16667"/>
            </a:avLst>
          </a:prstGeom>
          <a:solidFill>
            <a:srgbClr val="1F6F54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55905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accounts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1947672"/>
            <a:ext cx="21854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1F1D"/>
                </a:solidFill>
              </a:rPr>
              <a:t>Custom user model, rate-limited login, account lockout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9272" y="141732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83864" y="1563624"/>
            <a:ext cx="777240" cy="274320"/>
          </a:xfrm>
          <a:prstGeom prst="roundRect">
            <a:avLst>
              <a:gd name="adj" fmla="val 16667"/>
            </a:avLst>
          </a:prstGeom>
          <a:solidFill>
            <a:srgbClr val="1F6F54"/>
          </a:solidFill>
          <a:ln/>
        </p:spPr>
      </p:sp>
      <p:sp>
        <p:nvSpPr>
          <p:cNvPr id="10" name="Text 8"/>
          <p:cNvSpPr/>
          <p:nvPr/>
        </p:nvSpPr>
        <p:spPr>
          <a:xfrm>
            <a:off x="3483864" y="155905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store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83864" y="1947672"/>
            <a:ext cx="21854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1F1D"/>
                </a:solidFill>
              </a:rPr>
              <a:t>Product catalog, ORM search, validated image uploads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9904" y="141732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4496" y="1563624"/>
            <a:ext cx="777240" cy="274320"/>
          </a:xfrm>
          <a:prstGeom prst="roundRect">
            <a:avLst>
              <a:gd name="adj" fmla="val 16667"/>
            </a:avLst>
          </a:prstGeom>
          <a:solidFill>
            <a:srgbClr val="1F6F54"/>
          </a:solidFill>
          <a:ln/>
        </p:spPr>
      </p:sp>
      <p:sp>
        <p:nvSpPr>
          <p:cNvPr id="14" name="Text 12"/>
          <p:cNvSpPr/>
          <p:nvPr/>
        </p:nvSpPr>
        <p:spPr>
          <a:xfrm>
            <a:off x="6254496" y="155905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54496" y="1947672"/>
            <a:ext cx="21854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1F1D"/>
                </a:solidFill>
              </a:rPr>
              <a:t>Server-side session cart — price never trusted from client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0536" y="141732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25128" y="1563624"/>
            <a:ext cx="777240" cy="274320"/>
          </a:xfrm>
          <a:prstGeom prst="roundRect">
            <a:avLst>
              <a:gd name="adj" fmla="val 16667"/>
            </a:avLst>
          </a:prstGeom>
          <a:solidFill>
            <a:srgbClr val="1F6F54"/>
          </a:solidFill>
          <a:ln/>
        </p:spPr>
      </p:sp>
      <p:sp>
        <p:nvSpPr>
          <p:cNvPr id="18" name="Text 16"/>
          <p:cNvSpPr/>
          <p:nvPr/>
        </p:nvSpPr>
        <p:spPr>
          <a:xfrm>
            <a:off x="9025128" y="155905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orders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025128" y="1947672"/>
            <a:ext cx="21854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1F1D"/>
                </a:solidFill>
              </a:rPr>
              <a:t>Checkout, Stripe integration, webhook verification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907792" y="2020824"/>
            <a:ext cx="310896" cy="164592"/>
          </a:xfrm>
          <a:prstGeom prst="rightArrow">
            <a:avLst/>
          </a:prstGeom>
          <a:solidFill>
            <a:srgbClr val="C77F1E"/>
          </a:solidFill>
          <a:ln/>
        </p:spPr>
      </p:sp>
      <p:sp>
        <p:nvSpPr>
          <p:cNvPr id="21" name="Shape 19"/>
          <p:cNvSpPr/>
          <p:nvPr/>
        </p:nvSpPr>
        <p:spPr>
          <a:xfrm>
            <a:off x="5678424" y="2020824"/>
            <a:ext cx="310896" cy="164592"/>
          </a:xfrm>
          <a:prstGeom prst="rightArrow">
            <a:avLst/>
          </a:prstGeom>
          <a:solidFill>
            <a:srgbClr val="C77F1E"/>
          </a:solidFill>
          <a:ln/>
        </p:spPr>
      </p:sp>
      <p:sp>
        <p:nvSpPr>
          <p:cNvPr id="22" name="Shape 20"/>
          <p:cNvSpPr/>
          <p:nvPr/>
        </p:nvSpPr>
        <p:spPr>
          <a:xfrm>
            <a:off x="8449056" y="2020824"/>
            <a:ext cx="310896" cy="164592"/>
          </a:xfrm>
          <a:prstGeom prst="rightArrow">
            <a:avLst/>
          </a:prstGeom>
          <a:solidFill>
            <a:srgbClr val="C77F1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004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503C"/>
                </a:solidFill>
              </a:rPr>
              <a:t>Request lifecycle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3611880"/>
            <a:ext cx="6035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1F1D"/>
                </a:solidFill>
              </a:rPr>
              <a:t>1.  Shopper browses the catalog and adds items — cart stores only product id + quantity in the session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1F1D"/>
                </a:solidFill>
              </a:rPr>
              <a:t>2.  At checkout, price and stock are re-read from the database, never from the client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1F1D"/>
                </a:solidFill>
              </a:rPr>
              <a:t>3.  Django creates a Stripe Checkout session; card details are entered on Stripe's hosted page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1F1D"/>
                </a:solidFill>
              </a:rPr>
              <a:t>4.  Stripe sends a signed webhook back — only a verified signature marks the order “paid”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03720" y="3200400"/>
            <a:ext cx="4754880" cy="3246120"/>
          </a:xfrm>
          <a:prstGeom prst="roundRect">
            <a:avLst>
              <a:gd name="adj" fmla="val 2254"/>
            </a:avLst>
          </a:prstGeom>
          <a:solidFill>
            <a:srgbClr val="16503C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33649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32320" y="3794760"/>
            <a:ext cx="420624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9EAE2"/>
                </a:solidFill>
              </a:rPr>
              <a:t>Django 6.0 — ORM, auth, templating, admin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9EAE2"/>
                </a:solidFill>
              </a:rPr>
              <a:t>Stripe Checkout — PCI-compliant payments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9EAE2"/>
                </a:solidFill>
              </a:rPr>
              <a:t>SQLite (dev) / PostgreSQL (prod)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9EAE2"/>
                </a:solidFill>
              </a:rPr>
              <a:t>python-decouple — environment-based secrets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9EAE2"/>
                </a:solidFill>
              </a:rPr>
              <a:t>django-ratelimit — login throttling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9EAE2"/>
                </a:solidFill>
              </a:rPr>
              <a:t>Pillow — real image-content validation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9EAE2"/>
                </a:solidFill>
              </a:rPr>
              <a:t>WhiteNoise — secure static file serving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6F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6F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OWASP Top 10 (2021) risk, mapped to code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5120640"/>
        </p:xfrm>
        <a:graphic>
          <a:graphicData uri="http://schemas.openxmlformats.org/drawingml/2006/table">
            <a:tbl>
              <a:tblPr/>
              <a:tblGrid>
                <a:gridCol w="822960"/>
                <a:gridCol w="2468880"/>
                <a:gridCol w="7680960"/>
              </a:tblGrid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0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0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Mitigation in SecureShop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03C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503C"/>
                          </a:solidFill>
                        </a:rPr>
                        <a:t>A01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</a:rPr>
                        <a:t>Broken Access Control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</a:rPr>
                        <a:t>Ownership checks on orders; @login_required; admin permission gates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503C"/>
                          </a:solidFill>
                        </a:rPr>
                        <a:t>A02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</a:rPr>
                        <a:t>Cryptographic Failures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</a:rPr>
                        <a:t>Secrets via .env; PBKDF2 password hashing; card data never touches the server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503C"/>
                          </a:solidFill>
                        </a:rPr>
                        <a:t>A03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</a:rPr>
                        <a:t>Injection (SQL / XSS)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</a:rPr>
                        <a:t>Django ORM only, no raw SQL; templates auto-escape; strict CSP header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503C"/>
                          </a:solidFill>
                        </a:rPr>
                        <a:t>A04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</a:rPr>
                        <a:t>Insecure Design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</a:rPr>
                        <a:t>Cart price &amp; stock always re-read from the DB at checkout, not the client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503C"/>
                          </a:solidFill>
                        </a:rPr>
                        <a:t>A05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</a:rPr>
                        <a:t>Security Misconfiguration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</a:rPr>
                        <a:t>DEBUG=False + HSTS in prod; X-Frame-Options, nosniff, referrer policy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503C"/>
                          </a:solidFill>
                        </a:rPr>
                        <a:t>A07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</a:rPr>
                        <a:t>Auth. Failures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</a:rPr>
                        <a:t>Password validators; IP rate limiting; 5-strike account lockout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503C"/>
                          </a:solidFill>
                        </a:rPr>
                        <a:t>A08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</a:rPr>
                        <a:t>Data Integrity Failures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</a:rPr>
                        <a:t>Stripe webhook signature verified before an order is ever marked paid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503C"/>
                          </a:solidFill>
                        </a:rPr>
                        <a:t>A09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</a:rPr>
                        <a:t>Logging &amp; Monitoring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</a:rPr>
                        <a:t>Rotating security.log for failed logins, lockouts, webhook rejections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6F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7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mechanisms worth a closer look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1667"/>
            </a:avLst>
          </a:prstGeom>
          <a:solidFill>
            <a:srgbClr val="F2F5F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45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503C"/>
                </a:solidFill>
              </a:rPr>
              <a:t>Price integrity at checkout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1F1D"/>
                </a:solidFill>
              </a:rPr>
              <a:t>The session cart only ever stores a product id and a quantity — never a price. At checkout, every line is re-priced from Product.price and re-validated against current stock before an Order is created.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3246120"/>
            <a:ext cx="4754880" cy="2834640"/>
          </a:xfrm>
          <a:prstGeom prst="roundRect">
            <a:avLst>
              <a:gd name="adj" fmla="val 1935"/>
            </a:avLst>
          </a:prstGeom>
          <a:solidFill>
            <a:srgbClr val="16503C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429000"/>
            <a:ext cx="429768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FB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cart.py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self.cart[pid] = {"quantity": qty}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FB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price stored client-side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FB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orders/views.py — checkout()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OrderItem.objects.create(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price=product.price,  # DB, not client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quantity=line["quantity"],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371600"/>
            <a:ext cx="5394960" cy="4937760"/>
          </a:xfrm>
          <a:prstGeom prst="roundRect">
            <a:avLst>
              <a:gd name="adj" fmla="val 1667"/>
            </a:avLst>
          </a:prstGeom>
          <a:solidFill>
            <a:srgbClr val="F2F5F3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503C"/>
                </a:solidFill>
              </a:rPr>
              <a:t>Payment confirmation via signed webhook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0" y="214884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1F1D"/>
                </a:solidFill>
              </a:rPr>
              <a:t>The redirect to the “thank you” page is never trusted as proof of payment — that URL can be visited without paying. Only a Stripe webhook whose cryptographic signature checks out can mark an order as paid.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0" y="3246120"/>
            <a:ext cx="4846320" cy="2834640"/>
          </a:xfrm>
          <a:prstGeom prst="roundRect">
            <a:avLst>
              <a:gd name="adj" fmla="val 1935"/>
            </a:avLst>
          </a:prstGeom>
          <a:solidFill>
            <a:srgbClr val="16503C"/>
          </a:solidFill>
          <a:ln/>
        </p:spPr>
      </p:sp>
      <p:sp>
        <p:nvSpPr>
          <p:cNvPr id="13" name="Text 11"/>
          <p:cNvSpPr/>
          <p:nvPr/>
        </p:nvSpPr>
        <p:spPr>
          <a:xfrm>
            <a:off x="6812280" y="3429000"/>
            <a:ext cx="438912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FB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orders/views.py — stripe_webhook()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 = stripe.Webhook.construct_event(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payload, sig_header,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settings.STRIPE_WEBHOOK_SECRET,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FB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invalid signature -&gt; HTTP 400, order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FB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is never touched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order.status = Order.Status.PAID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6F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6F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automated unit tests, all passing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503C"/>
                </a:solidFill>
              </a:rPr>
              <a:t>What's covered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583680" y="17830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503C"/>
                </a:solidFill>
              </a:rPr>
              <a:t>accounts (10)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0" y="207568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1F1D"/>
                </a:solidFill>
              </a:rPr>
              <a:t>Password hashing · weak-password rejection · lockout · generic auth errors · CSRF · security headers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0" y="28163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503C"/>
                </a:solidFill>
              </a:rPr>
              <a:t>store (9)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0" y="310896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1F1D"/>
                </a:solidFill>
              </a:rPr>
              <a:t>ORM search incl. SQL-injection payloads · stored/reflected XSS escaping · file-upload content validation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0" y="384962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503C"/>
                </a:solidFill>
              </a:rPr>
              <a:t>cart (4)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583680" y="4142232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1F1D"/>
                </a:solidFill>
              </a:rPr>
              <a:t>Server-side price integrity · stock limits · live re-pricing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583680" y="48828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503C"/>
                </a:solidFill>
              </a:rPr>
              <a:t>orders (9)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583680" y="5175504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1F1D"/>
                </a:solidFill>
              </a:rPr>
              <a:t>Order ownership · server-side re-pricing · stock checks · Stripe webhook signature verification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5440680"/>
            <a:ext cx="5760720" cy="777240"/>
          </a:xfrm>
          <a:prstGeom prst="roundRect">
            <a:avLst>
              <a:gd name="adj" fmla="val 7059"/>
            </a:avLst>
          </a:prstGeom>
          <a:solidFill>
            <a:srgbClr val="16503C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4068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A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test    —    Ran 32 tests — OK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6F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6F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TESTING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17 automated security checks passed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1F1D"/>
                </a:solidFill>
              </a:rPr>
              <a:t>OWASP ZAP was not installable in this sandboxed build environment, so an equivalent custom test harness (security_scan.py) probed the live application across the same categories: headers, cookies, CSRF, XSS, SQL injection, open redirects, authentication, and access control. Full methodology and results in Security_Vulnerability_Report.docx.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3383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2461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503C"/>
                </a:solidFill>
              </a:rPr>
              <a:t>16/17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297680" y="2057400"/>
            <a:ext cx="3566160" cy="749808"/>
          </a:xfrm>
          <a:prstGeom prst="roundRect">
            <a:avLst>
              <a:gd name="adj" fmla="val 6098"/>
            </a:avLst>
          </a:prstGeom>
          <a:solidFill>
            <a:srgbClr val="FBE6E4"/>
          </a:solidFill>
          <a:ln/>
        </p:spPr>
      </p:sp>
      <p:sp>
        <p:nvSpPr>
          <p:cNvPr id="8" name="Text 5"/>
          <p:cNvSpPr/>
          <p:nvPr/>
        </p:nvSpPr>
        <p:spPr>
          <a:xfrm>
            <a:off x="4462272" y="213055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1D"/>
                </a:solidFill>
              </a:rPr>
              <a:t>Headers &amp; Cookies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462272" y="24231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261E"/>
                </a:solidFill>
              </a:rPr>
              <a:t>4/5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360920" y="2194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261E"/>
                </a:solidFill>
              </a:rPr>
              <a:t>!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91856" y="2057400"/>
            <a:ext cx="3566160" cy="749808"/>
          </a:xfrm>
          <a:prstGeom prst="roundRect">
            <a:avLst>
              <a:gd name="adj" fmla="val 6098"/>
            </a:avLst>
          </a:prstGeom>
          <a:solidFill>
            <a:srgbClr val="E3F5EC"/>
          </a:solidFill>
          <a:ln/>
        </p:spPr>
      </p:sp>
      <p:sp>
        <p:nvSpPr>
          <p:cNvPr id="12" name="Text 9"/>
          <p:cNvSpPr/>
          <p:nvPr/>
        </p:nvSpPr>
        <p:spPr>
          <a:xfrm>
            <a:off x="8156448" y="213055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1D"/>
                </a:solidFill>
              </a:rPr>
              <a:t>CSRF Protection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56448" y="24231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503C"/>
                </a:solidFill>
              </a:rPr>
              <a:t>1/1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055096" y="2194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4"/>
                </a:solidFill>
              </a:rPr>
              <a:t>✓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4297680" y="2935224"/>
            <a:ext cx="3566160" cy="749808"/>
          </a:xfrm>
          <a:prstGeom prst="roundRect">
            <a:avLst>
              <a:gd name="adj" fmla="val 6098"/>
            </a:avLst>
          </a:prstGeom>
          <a:solidFill>
            <a:srgbClr val="E3F5EC"/>
          </a:solidFill>
          <a:ln/>
        </p:spPr>
      </p:sp>
      <p:sp>
        <p:nvSpPr>
          <p:cNvPr id="16" name="Text 13"/>
          <p:cNvSpPr/>
          <p:nvPr/>
        </p:nvSpPr>
        <p:spPr>
          <a:xfrm>
            <a:off x="4462272" y="300837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1D"/>
                </a:solidFill>
              </a:rPr>
              <a:t>Cross-Site Scripting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462272" y="330098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503C"/>
                </a:solidFill>
              </a:rPr>
              <a:t>1/1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360920" y="307238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4"/>
                </a:solidFill>
              </a:rPr>
              <a:t>✓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7991856" y="2935224"/>
            <a:ext cx="3566160" cy="749808"/>
          </a:xfrm>
          <a:prstGeom prst="roundRect">
            <a:avLst>
              <a:gd name="adj" fmla="val 6098"/>
            </a:avLst>
          </a:prstGeom>
          <a:solidFill>
            <a:srgbClr val="E3F5EC"/>
          </a:solidFill>
          <a:ln/>
        </p:spPr>
      </p:sp>
      <p:sp>
        <p:nvSpPr>
          <p:cNvPr id="20" name="Text 17"/>
          <p:cNvSpPr/>
          <p:nvPr/>
        </p:nvSpPr>
        <p:spPr>
          <a:xfrm>
            <a:off x="8156448" y="300837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1D"/>
                </a:solidFill>
              </a:rPr>
              <a:t>SQL Injection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56448" y="330098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503C"/>
                </a:solidFill>
              </a:rPr>
              <a:t>2/2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055096" y="307238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4"/>
                </a:solidFill>
              </a:rPr>
              <a:t>✓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4297680" y="3813048"/>
            <a:ext cx="3566160" cy="749808"/>
          </a:xfrm>
          <a:prstGeom prst="roundRect">
            <a:avLst>
              <a:gd name="adj" fmla="val 6098"/>
            </a:avLst>
          </a:prstGeom>
          <a:solidFill>
            <a:srgbClr val="E3F5EC"/>
          </a:solidFill>
          <a:ln/>
        </p:spPr>
      </p:sp>
      <p:sp>
        <p:nvSpPr>
          <p:cNvPr id="24" name="Text 21"/>
          <p:cNvSpPr/>
          <p:nvPr/>
        </p:nvSpPr>
        <p:spPr>
          <a:xfrm>
            <a:off x="4462272" y="3886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1D"/>
                </a:solidFill>
              </a:rPr>
              <a:t>Open Redirect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462272" y="417880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503C"/>
                </a:solidFill>
              </a:rPr>
              <a:t>1/1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360920" y="395020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4"/>
                </a:solidFill>
              </a:rPr>
              <a:t>✓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991856" y="3813048"/>
            <a:ext cx="3566160" cy="749808"/>
          </a:xfrm>
          <a:prstGeom prst="roundRect">
            <a:avLst>
              <a:gd name="adj" fmla="val 6098"/>
            </a:avLst>
          </a:prstGeom>
          <a:solidFill>
            <a:srgbClr val="E3F5EC"/>
          </a:solidFill>
          <a:ln/>
        </p:spPr>
      </p:sp>
      <p:sp>
        <p:nvSpPr>
          <p:cNvPr id="28" name="Text 25"/>
          <p:cNvSpPr/>
          <p:nvPr/>
        </p:nvSpPr>
        <p:spPr>
          <a:xfrm>
            <a:off x="8156448" y="3886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1D"/>
                </a:solidFill>
              </a:rPr>
              <a:t>Authentication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156448" y="417880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503C"/>
                </a:solidFill>
              </a:rPr>
              <a:t>2/2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1055096" y="395020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4"/>
                </a:solidFill>
              </a:rPr>
              <a:t>✓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4297680" y="4690872"/>
            <a:ext cx="3566160" cy="749808"/>
          </a:xfrm>
          <a:prstGeom prst="roundRect">
            <a:avLst>
              <a:gd name="adj" fmla="val 6098"/>
            </a:avLst>
          </a:prstGeom>
          <a:solidFill>
            <a:srgbClr val="E3F5EC"/>
          </a:solidFill>
          <a:ln/>
        </p:spPr>
      </p:sp>
      <p:sp>
        <p:nvSpPr>
          <p:cNvPr id="32" name="Text 29"/>
          <p:cNvSpPr/>
          <p:nvPr/>
        </p:nvSpPr>
        <p:spPr>
          <a:xfrm>
            <a:off x="4462272" y="476402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1D"/>
                </a:solidFill>
              </a:rPr>
              <a:t>Access Control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462272" y="505663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503C"/>
                </a:solidFill>
              </a:rPr>
              <a:t>3/3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7360920" y="482803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4"/>
                </a:solidFill>
              </a:rPr>
              <a:t>✓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7991856" y="4690872"/>
            <a:ext cx="3566160" cy="749808"/>
          </a:xfrm>
          <a:prstGeom prst="roundRect">
            <a:avLst>
              <a:gd name="adj" fmla="val 6098"/>
            </a:avLst>
          </a:prstGeom>
          <a:solidFill>
            <a:srgbClr val="E3F5EC"/>
          </a:solidFill>
          <a:ln/>
        </p:spPr>
      </p:sp>
      <p:sp>
        <p:nvSpPr>
          <p:cNvPr id="36" name="Text 33"/>
          <p:cNvSpPr/>
          <p:nvPr/>
        </p:nvSpPr>
        <p:spPr>
          <a:xfrm>
            <a:off x="8156448" y="476402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1D"/>
                </a:solidFill>
              </a:rPr>
              <a:t>Info Disclosure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8156448" y="505663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503C"/>
                </a:solidFill>
              </a:rPr>
              <a:t>1/1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11055096" y="482803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4"/>
                </a:solidFill>
              </a:rPr>
              <a:t>✓</a:t>
            </a:r>
            <a:endParaRPr lang="en-US" sz="2000" dirty="0"/>
          </a:p>
        </p:txBody>
      </p:sp>
      <p:sp>
        <p:nvSpPr>
          <p:cNvPr id="39" name="Text 36"/>
          <p:cNvSpPr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756F"/>
                </a:solidFill>
              </a:rPr>
              <a:t>Only finding: the local dev server discloses its version in the Server header (Low severity) — fixed by stripping headers at the production reverse proxy, per the deployment checklist. No injection, XSS, CSRF, or access-control issues found.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6F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5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this goes to production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566928"/>
          </a:xfrm>
          <a:prstGeom prst="roundRect">
            <a:avLst>
              <a:gd name="adj" fmla="val 8065"/>
            </a:avLst>
          </a:prstGeom>
          <a:solidFill>
            <a:srgbClr val="1F6F54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444752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E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37160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</a:rPr>
              <a:t>Set DEBUG=False, a unique SECRET_KEY, and real ALLOWED_HOSTS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371600"/>
            <a:ext cx="5349240" cy="566928"/>
          </a:xfrm>
          <a:prstGeom prst="roundRect">
            <a:avLst>
              <a:gd name="adj" fmla="val 8065"/>
            </a:avLst>
          </a:prstGeom>
          <a:solidFill>
            <a:srgbClr val="1F6F54">
              <a:alpha val="7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281928" y="1444752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E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0" y="137160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</a:rPr>
              <a:t>Serve over HTTPS only — required for HSTS and secure cookies to activate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066544"/>
            <a:ext cx="5349240" cy="566928"/>
          </a:xfrm>
          <a:prstGeom prst="roundRect">
            <a:avLst>
              <a:gd name="adj" fmla="val 8065"/>
            </a:avLst>
          </a:prstGeom>
          <a:solidFill>
            <a:srgbClr val="1F6F54">
              <a:alpha val="7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39696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E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2066544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</a:rPr>
              <a:t>Strip the Server header at the reverse proxy (nginx / gunicorn)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2066544"/>
            <a:ext cx="5349240" cy="566928"/>
          </a:xfrm>
          <a:prstGeom prst="roundRect">
            <a:avLst>
              <a:gd name="adj" fmla="val 8065"/>
            </a:avLst>
          </a:prstGeom>
          <a:solidFill>
            <a:srgbClr val="1F6F54">
              <a:alpha val="7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2139696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E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0" y="2066544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</a:rPr>
              <a:t>Swap SQLite for PostgreSQL for concurrent-write safety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761488"/>
            <a:ext cx="5349240" cy="566928"/>
          </a:xfrm>
          <a:prstGeom prst="roundRect">
            <a:avLst>
              <a:gd name="adj" fmla="val 8065"/>
            </a:avLst>
          </a:prstGeom>
          <a:solidFill>
            <a:srgbClr val="1F6F54">
              <a:alpha val="7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E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2761488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</a:rPr>
              <a:t>Rotate or delete the seeded demo admin account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2761488"/>
            <a:ext cx="5349240" cy="566928"/>
          </a:xfrm>
          <a:prstGeom prst="roundRect">
            <a:avLst>
              <a:gd name="adj" fmla="val 8065"/>
            </a:avLst>
          </a:prstGeom>
          <a:solidFill>
            <a:srgbClr val="1F6F54">
              <a:alpha val="7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281928" y="283464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E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2761488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</a:rPr>
              <a:t>Run pip-audit before every release to catch new CVEs in dependencies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456432"/>
            <a:ext cx="5349240" cy="566928"/>
          </a:xfrm>
          <a:prstGeom prst="roundRect">
            <a:avLst>
              <a:gd name="adj" fmla="val 8065"/>
            </a:avLst>
          </a:prstGeom>
          <a:solidFill>
            <a:srgbClr val="1F6F54">
              <a:alpha val="7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3529584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E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51560" y="3456432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</a:rPr>
              <a:t>Point the real Stripe webhook endpoint at /orders/webhook/stripe/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72200" y="3456432"/>
            <a:ext cx="5349240" cy="566928"/>
          </a:xfrm>
          <a:prstGeom prst="roundRect">
            <a:avLst>
              <a:gd name="adj" fmla="val 8065"/>
            </a:avLst>
          </a:prstGeom>
          <a:solidFill>
            <a:srgbClr val="1F6F54">
              <a:alpha val="7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281928" y="3529584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E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3456432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</a:rPr>
              <a:t>Consider two-factor authentication for staff/admin accounts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6F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2026-07-11T10:52:13Z</dcterms:created>
  <dcterms:modified xsi:type="dcterms:W3CDTF">2026-07-11T10:52:13Z</dcterms:modified>
</cp:coreProperties>
</file>